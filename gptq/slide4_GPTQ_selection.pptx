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GPTQ를 고른 근거는 두 기둥입니다. 순서가 중요한데, 알고리즘 적합성(①)이 먼저고 도구(②)가 그다음입니다.</a:t>
            </a:r>
          </a:p>
          <a:p/>
          <a:p>
            <a:r>
              <a:t>근거 1, 알고리즘 적합성. GPTQ는 dense transformer의 Linear 레이어를 캘리브 통계(Hessian)로 한 층씩 양자화하는 기법입니다[arXiv:2210.17323]. 그런데 우리가 4bit로 깎는 부분이 바로 mllama의 텍스트 디코더이고, 이건 MoE나 희소구조 없는 정통 Llama dense 구조입니다(코드로 직접 확인). 즉 GPTQ가 가장 잘 다루는 대상이 정확히 우리 양자화 타깃입니다. 실제로 Llama 계열은 INT4 group_size 128에서 fp16 대비 평균 약 97% 정확도를 유지한다고 여러 벤치마크가 보고합니다[LLMC, arXiv:2405.06001]. 즉 "Llama라서 잘 맞는다"는 통념이 아니라 수치로 뒷받침됩니다.</a:t>
            </a:r>
          </a:p>
          <a:p/>
          <a:p>
            <a:r>
              <a:t>근거 2, 도구 적용성. 알고리즘이 맞아도 그걸 우리 모델에 적용해줄 도구가 필요합니다. mllama는 비전+텍스트가 섞인 특수 구조라 대부분의 양자화 도구엔 처리 로직이 없습니다. gptqmodel만 mllama를 지원했고(그마저 살짝 낡아 한 줄 수정해 썼습니다), AWQ·SpinQuant는 직접 구현해야 했습니다. 여기서 정직하게 짚을 점 — 이건 "다른 도구로는 불가능"이 아니라 "구현이 안 돼 있어 직접 만들어야 한다"는 비용 문제입니다. 우리 목표는 도구 개발이 아니라 모델 배포이므로, 바퀴를 재발명하지 않는 게 합리적이었습니다.</a:t>
            </a:r>
          </a:p>
          <a:p/>
          <a:p>
            <a:r>
              <a:t>정리하면, Llama 구조라 알고리즘이 잘 맞고(수치 입증) + 그 mllama를 실제로 처리하는 성숙한 도구가 gptqmodel이라는 두 근거의 교집합이 GPTQ였습니다.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algun Gothic"/>
              </a:rPr>
              <a:t>양자화 기법 선정 — 왜 GPTQ인가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29260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9BB5D4"/>
                </a:solidFill>
                <a:latin typeface="Malgun Gothic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155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2A4A"/>
                </a:solidFill>
                <a:latin typeface="Malgun Gothic"/>
              </a:rPr>
              <a:t>두 기둥으로 결정: </a:t>
            </a:r>
            <a:r>
              <a:rPr sz="1500" b="1">
                <a:solidFill>
                  <a:srgbClr val="2E86C1"/>
                </a:solidFill>
                <a:latin typeface="Malgun Gothic"/>
              </a:rPr>
              <a:t>① 우리가 깎는 부분에 알고리즘이 맞는가  </a:t>
            </a:r>
            <a:r>
              <a:rPr sz="1500" b="1">
                <a:solidFill>
                  <a:srgbClr val="2E86C1"/>
                </a:solidFill>
                <a:latin typeface="Malgun Gothic"/>
              </a:rPr>
              <a:t>② 그 모델을 처리하는 도구가 있는가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600200"/>
            <a:ext cx="11091672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916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86C1"/>
                </a:solidFill>
                <a:latin typeface="Malgun Gothic"/>
              </a:rPr>
              <a:t>근거 1 — 알고리즘 적합성 (출처 있음)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212848"/>
            <a:ext cx="108813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B2A4A"/>
                </a:solidFill>
                <a:latin typeface="Malgun Gothic"/>
              </a:rPr>
              <a:t>· GPTQ = dense transformer의 Linear를 레이어별 Hessian 기반으로 양자화하는 기법</a:t>
            </a:r>
          </a:p>
          <a:p>
            <a:pPr algn="l"/>
            <a:r>
              <a:rPr sz="1100" b="0">
                <a:solidFill>
                  <a:srgbClr val="5D6D7E"/>
                </a:solidFill>
                <a:latin typeface="Malgun Gothic"/>
              </a:rPr>
              <a:t>     </a:t>
            </a:r>
            <a:r>
              <a:rPr sz="1200" b="0">
                <a:solidFill>
                  <a:srgbClr val="7F8C8D"/>
                </a:solidFill>
                <a:latin typeface="Malgun Gothic"/>
              </a:rPr>
              <a:t>[GPTQ 원논문, arXiv:2210.17323]</a:t>
            </a:r>
          </a:p>
          <a:p>
            <a:pPr algn="l"/>
            <a:r>
              <a:rPr sz="1500" b="0">
                <a:solidFill>
                  <a:srgbClr val="1B2A4A"/>
                </a:solidFill>
                <a:latin typeface="Malgun Gothic"/>
              </a:rPr>
              <a:t>· 우리가 4bit로 깎는 mllama 텍스트 디코더 = 정통 Llama dense 구조 (MoE·희소구조 없음)</a:t>
            </a:r>
          </a:p>
          <a:p>
            <a:pPr algn="l"/>
            <a:r>
              <a:rPr sz="1100" b="0">
                <a:solidFill>
                  <a:srgbClr val="5D6D7E"/>
                </a:solidFill>
                <a:latin typeface="Malgun Gothic"/>
              </a:rPr>
              <a:t>     </a:t>
            </a:r>
            <a:r>
              <a:rPr sz="1200" b="0">
                <a:solidFill>
                  <a:srgbClr val="7F8C8D"/>
                </a:solidFill>
                <a:latin typeface="Malgun Gothic"/>
              </a:rPr>
              <a:t>[modeling_mllama.py 코드 직접 확인 · config model_type=mllama_text_model]</a:t>
            </a:r>
          </a:p>
          <a:p>
            <a:pPr algn="l"/>
            <a:r>
              <a:rPr sz="1500" b="0">
                <a:solidFill>
                  <a:srgbClr val="1B2A4A"/>
                </a:solidFill>
                <a:latin typeface="Malgun Gothic"/>
              </a:rPr>
              <a:t>· Llama 계열 INT4(group_size=128): fp16 대비 평균 약 97% 정확도 유지</a:t>
            </a:r>
          </a:p>
          <a:p>
            <a:pPr algn="l"/>
            <a:r>
              <a:rPr sz="1100" b="0">
                <a:solidFill>
                  <a:srgbClr val="5D6D7E"/>
                </a:solidFill>
                <a:latin typeface="Malgun Gothic"/>
              </a:rPr>
              <a:t>     </a:t>
            </a:r>
            <a:r>
              <a:rPr sz="1200" b="0">
                <a:solidFill>
                  <a:srgbClr val="7F8C8D"/>
                </a:solidFill>
                <a:latin typeface="Malgun Gothic"/>
              </a:rPr>
              <a:t>[Llama-3.1-8B INT4 예: MMLU 70.25 / 평균 97% recovery — LLMC, arXiv:2405.06001]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343400"/>
            <a:ext cx="11091672" cy="45720"/>
          </a:xfrm>
          <a:prstGeom prst="rect">
            <a:avLst/>
          </a:prstGeom>
          <a:solidFill>
            <a:srgbClr val="2E86C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44348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2E86C1"/>
                </a:solidFill>
                <a:latin typeface="Malgun Gothic"/>
              </a:rPr>
              <a:t>근거 2 — 도구 적용성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956048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1B2A4A"/>
                </a:solidFill>
                <a:latin typeface="Malgun Gothic"/>
              </a:rPr>
              <a:t>· mllama(비전+텍스트 멀티모달) 구조를 처리하는 성숙한 도구 = gptqmodel</a:t>
            </a:r>
          </a:p>
          <a:p>
            <a:pPr algn="l"/>
            <a:r>
              <a:rPr sz="1500" b="0">
                <a:solidFill>
                  <a:srgbClr val="1B2A4A"/>
                </a:solidFill>
                <a:latin typeface="Malgun Gothic"/>
              </a:rPr>
              <a:t>· AWQ·SpinQuant는 mllama 처리 로직이 없어 직접 구현 필요 → 도구 개발 수준의 비용</a:t>
            </a:r>
          </a:p>
          <a:p>
            <a:pPr algn="l"/>
            <a:r>
              <a:rPr sz="1100" b="0">
                <a:solidFill>
                  <a:srgbClr val="5D6D7E"/>
                </a:solidFill>
                <a:latin typeface="Malgun Gothic"/>
              </a:rPr>
              <a:t>     </a:t>
            </a:r>
            <a:r>
              <a:rPr sz="1200" b="0">
                <a:solidFill>
                  <a:srgbClr val="7F8C8D"/>
                </a:solidFill>
                <a:latin typeface="Malgun Gothic"/>
              </a:rPr>
              <a:t>[AutoAWQ 유지보수 중단 · SpinQuant/llm-awq mllama 미지원 — 단, 알고리즘상 불가능이 아니라 구현 부재]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6053328"/>
            <a:ext cx="11091672" cy="566928"/>
          </a:xfrm>
          <a:prstGeom prst="rect">
            <a:avLst/>
          </a:prstGeom>
          <a:solidFill>
            <a:srgbClr val="EAF2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6126480"/>
            <a:ext cx="10789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C0392B"/>
                </a:solidFill>
                <a:latin typeface="Malgun Gothic"/>
              </a:rPr>
              <a:t>결론: </a:t>
            </a:r>
            <a:r>
              <a:rPr sz="1400" b="1">
                <a:solidFill>
                  <a:srgbClr val="1B2A4A"/>
                </a:solidFill>
                <a:latin typeface="Malgun Gothic"/>
              </a:rPr>
              <a:t>Llama 구조라 GPTQ가 잘 맞고(①, 수치 입증) + 그 mllama를 실제로 처리하는 도구가 gptqmodel(②) → 교집합이 GPTQ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